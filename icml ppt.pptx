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64" r:id="rId10"/>
    <p:sldId id="279" r:id="rId11"/>
    <p:sldId id="272" r:id="rId12"/>
    <p:sldId id="266" r:id="rId13"/>
    <p:sldId id="267" r:id="rId14"/>
    <p:sldId id="273" r:id="rId15"/>
    <p:sldId id="274" r:id="rId16"/>
    <p:sldId id="269" r:id="rId17"/>
    <p:sldId id="277" r:id="rId18"/>
    <p:sldId id="278" r:id="rId19"/>
    <p:sldId id="280" r:id="rId20"/>
    <p:sldId id="281" r:id="rId21"/>
    <p:sldId id="282" r:id="rId22"/>
    <p:sldId id="270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0681" autoAdjust="0"/>
  </p:normalViewPr>
  <p:slideViewPr>
    <p:cSldViewPr>
      <p:cViewPr varScale="1">
        <p:scale>
          <a:sx n="109" d="100"/>
          <a:sy n="109" d="100"/>
        </p:scale>
        <p:origin x="1171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8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8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4"/>
          <p:cNvSpPr txBox="1"/>
          <p:nvPr/>
        </p:nvSpPr>
        <p:spPr>
          <a:xfrm>
            <a:off x="152400" y="1047750"/>
            <a:ext cx="8539218" cy="1011682"/>
          </a:xfrm>
          <a:prstGeom prst="rect">
            <a:avLst/>
          </a:prstGeom>
          <a:noFill/>
        </p:spPr>
        <p:txBody>
          <a:bodyPr wrap="square" lIns="87499" tIns="43749" rIns="87499" bIns="43749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B.E – ECE ( 2 Year B Section)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PROJECT BASED LEARNING REVIEW 1  AY </a:t>
            </a:r>
            <a:r>
              <a:rPr lang="en-US" sz="1600" b="1" u="sng" dirty="0">
                <a:latin typeface="Times New Roman" pitchFamily="18" charset="0"/>
                <a:cs typeface="Times New Roman" pitchFamily="18" charset="0"/>
              </a:rPr>
              <a:t>2026-27 ODD SEMESTER</a:t>
            </a:r>
          </a:p>
        </p:txBody>
      </p:sp>
      <p:graphicFrame>
        <p:nvGraphicFramePr>
          <p:cNvPr id="419430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231355"/>
              </p:ext>
            </p:extLst>
          </p:nvPr>
        </p:nvGraphicFramePr>
        <p:xfrm>
          <a:off x="152400" y="3257550"/>
          <a:ext cx="8506143" cy="18135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24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Presented</a:t>
                      </a:r>
                      <a:r>
                        <a:rPr lang="en-US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By</a:t>
                      </a:r>
                      <a:endParaRPr lang="en-US" sz="16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           Under the Mentoring of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Mentor – (Company)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 rowSpan="2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MAHALAKSHMI S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SIDDHARATH S</a:t>
                      </a:r>
                    </a:p>
                  </a:txBody>
                  <a:tcPr marT="34290" marB="34290"/>
                </a:tc>
                <a:tc rowSpan="2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YEAR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II YEAR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NAME: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Post: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Mail</a:t>
                      </a:r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ID:</a:t>
                      </a:r>
                    </a:p>
                    <a:p>
                      <a:pPr algn="l"/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Mob :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Assistant Professor /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ECE Department/CIT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Contact Details: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587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027311"/>
              </p:ext>
            </p:extLst>
          </p:nvPr>
        </p:nvGraphicFramePr>
        <p:xfrm>
          <a:off x="152400" y="1962150"/>
          <a:ext cx="8839200" cy="34292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8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  <a:cs typeface="Times New Roman" pitchFamily="18" charset="0"/>
                        </a:rPr>
                        <a:t>                  </a:t>
                      </a:r>
                    </a:p>
                    <a:p>
                      <a:r>
                        <a:rPr lang="en-US" dirty="0">
                          <a:latin typeface="Algerian" panose="04020705040A02060702" pitchFamily="82" charset="0"/>
                          <a:cs typeface="Times New Roman" pitchFamily="18" charset="0"/>
                        </a:rPr>
                        <a:t>          </a:t>
                      </a:r>
                      <a:r>
                        <a:rPr lang="en-IN" dirty="0">
                          <a:latin typeface="Algerian" panose="04020705040A02060702" pitchFamily="82" charset="0"/>
                        </a:rPr>
                        <a:t>AI-Based Smart Road Safety and Emergency Response System</a:t>
                      </a:r>
                      <a:endParaRPr lang="en-US" dirty="0">
                        <a:latin typeface="Algerian" panose="04020705040A02060702" pitchFamily="82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Algerian" panose="04020705040A02060702" pitchFamily="82" charset="0"/>
                          <a:cs typeface="Times New Roman" pitchFamily="18" charset="0"/>
                        </a:rPr>
                        <a:t>        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727756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9013"/>
                  </a:ext>
                </a:extLst>
              </a:tr>
            </a:tbl>
          </a:graphicData>
        </a:graphic>
      </p:graphicFrame>
      <p:sp>
        <p:nvSpPr>
          <p:cNvPr id="1048588" name="Frame 15"/>
          <p:cNvSpPr/>
          <p:nvPr/>
        </p:nvSpPr>
        <p:spPr>
          <a:xfrm>
            <a:off x="0" y="0"/>
            <a:ext cx="9144000" cy="1123950"/>
          </a:xfrm>
          <a:prstGeom prst="frame">
            <a:avLst>
              <a:gd name="adj1" fmla="val 67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8763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33350"/>
            <a:ext cx="1295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5B44A3-ED12-9F17-2574-227F4BB4D08C}"/>
              </a:ext>
            </a:extLst>
          </p:cNvPr>
          <p:cNvSpPr txBox="1"/>
          <p:nvPr/>
        </p:nvSpPr>
        <p:spPr>
          <a:xfrm>
            <a:off x="6807224" y="3552372"/>
            <a:ext cx="15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KALAIYARASI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61929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ABSTRACT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0479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r>
                        <a:rPr lang="en-US" sz="1050" baseline="0" dirty="0"/>
                        <a:t> 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REVIEW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/>
          <p:cNvSpPr/>
          <p:nvPr/>
        </p:nvSpPr>
        <p:spPr>
          <a:xfrm>
            <a:off x="0" y="0"/>
            <a:ext cx="1143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6" name="Content Placeholder 7"/>
          <p:cNvSpPr>
            <a:spLocks noGrp="1"/>
          </p:cNvSpPr>
          <p:nvPr>
            <p:ph idx="1"/>
          </p:nvPr>
        </p:nvSpPr>
        <p:spPr>
          <a:xfrm>
            <a:off x="914400" y="1351537"/>
            <a:ext cx="7467600" cy="3394472"/>
          </a:xfrm>
        </p:spPr>
        <p:txBody>
          <a:bodyPr>
            <a:normAutofit/>
          </a:bodyPr>
          <a:lstStyle/>
          <a:p>
            <a:pPr algn="just"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latin typeface="Aptos Display" panose="020B0004020202020204" pitchFamily="34" charset="0"/>
              </a:rPr>
              <a:t>Road accidents often result in fatalities due to delayed emergency response. </a:t>
            </a:r>
          </a:p>
          <a:p>
            <a:pPr algn="just"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latin typeface="Aptos Display" panose="020B0004020202020204" pitchFamily="34" charset="0"/>
              </a:rPr>
              <a:t>This project uses an ESP32, MPU6050, GPS, and GSM to automatically detect accidents and send alerts with the accident location to family members while contacting the ambulance and police. </a:t>
            </a:r>
          </a:p>
          <a:p>
            <a:pPr algn="just"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latin typeface="Aptos Display" panose="020B0004020202020204" pitchFamily="34" charset="0"/>
              </a:rPr>
              <a:t>AI is used to classify accident severity as Minor, Moderate, or Severe, reducing false alerts and improving emergency response efficiency.</a:t>
            </a:r>
            <a:endParaRPr lang="en-US" sz="1600" b="1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597" name="Frame 8"/>
          <p:cNvSpPr/>
          <p:nvPr/>
        </p:nvSpPr>
        <p:spPr>
          <a:xfrm>
            <a:off x="1143000" y="0"/>
            <a:ext cx="8001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417689"/>
              </p:ext>
            </p:extLst>
          </p:nvPr>
        </p:nvGraphicFramePr>
        <p:xfrm>
          <a:off x="1142999" y="0"/>
          <a:ext cx="8001001" cy="914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249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Outcomes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8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9" name="Frame 10"/>
          <p:cNvSpPr/>
          <p:nvPr/>
        </p:nvSpPr>
        <p:spPr>
          <a:xfrm>
            <a:off x="0" y="0"/>
            <a:ext cx="1143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1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46148"/>
              </p:ext>
            </p:extLst>
          </p:nvPr>
        </p:nvGraphicFramePr>
        <p:xfrm>
          <a:off x="533399" y="1038916"/>
          <a:ext cx="8401611" cy="3361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5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 No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 Papers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Identified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Remarks</a:t>
                      </a:r>
                      <a:r>
                        <a:rPr lang="en-US" sz="1100" b="1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Solutions/Modifications/Suggestions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357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IoT-Based Smart Accident Detection and Emergency Notification System</a:t>
                      </a:r>
                    </a:p>
                    <a:p>
                      <a:pPr algn="just">
                        <a:buNone/>
                      </a:pPr>
                      <a:r>
                        <a:rPr lang="en-IN" sz="1600" dirty="0"/>
                        <a:t>R. Karthikeyan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Uses threshold-based accident detection, leading to false alarms.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AI-based accident verification to improve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922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Smart Vehicle Accident Detection and Emergency Response Using IoT, S. Kumar, P. Singh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Sends alerts without classifying accident severity.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14300" indent="0" algn="just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ptos Display" panose="020B0004020202020204" pitchFamily="34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357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38100" marB="0" horzOverflow="overflow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 dirty="0"/>
                        <a:t>An Intelligent Road Accident Detection and Rescue System Using Machine Learning,</a:t>
                      </a:r>
                      <a:r>
                        <a:rPr lang="en-IN" sz="1600" dirty="0"/>
                        <a:t> A. Sharma, R. Verma,2024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Lacks intelligent decision-making and emergency prioritization.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AI-assisted emergency response with severity-based alert generation.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00" name="Frame 8"/>
          <p:cNvSpPr/>
          <p:nvPr/>
        </p:nvSpPr>
        <p:spPr>
          <a:xfrm>
            <a:off x="1083530" y="0"/>
            <a:ext cx="8001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409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35072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14B639-6DFE-07EE-86C0-86051873D663}"/>
              </a:ext>
            </a:extLst>
          </p:cNvPr>
          <p:cNvSpPr txBox="1"/>
          <p:nvPr/>
        </p:nvSpPr>
        <p:spPr>
          <a:xfrm>
            <a:off x="6458561" y="2442721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AI-based Minor/Moderate/Severe accident prediction.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71450-F703-A12B-66DA-D5BBABF1B053}"/>
              </a:ext>
            </a:extLst>
          </p:cNvPr>
          <p:cNvSpPr txBox="1"/>
          <p:nvPr/>
        </p:nvSpPr>
        <p:spPr>
          <a:xfrm>
            <a:off x="6648792" y="3874916"/>
            <a:ext cx="2428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.</a:t>
            </a:r>
            <a:endParaRPr lang="en-IN" sz="16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884221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dirty="0"/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Objectives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1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2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4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3944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B51B9C-B1CE-CA94-310C-340CFC132BDF}"/>
              </a:ext>
            </a:extLst>
          </p:cNvPr>
          <p:cNvSpPr txBox="1"/>
          <p:nvPr/>
        </p:nvSpPr>
        <p:spPr>
          <a:xfrm>
            <a:off x="1219200" y="1032892"/>
            <a:ext cx="46282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Detect road accidents automatically.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Reduce emergency response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Share accident location with family.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Automatically call ambulance and police.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Reduce false accident alerts.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Predict accident severity using AI.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Improve road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6230662"/>
              </p:ext>
            </p:extLst>
          </p:nvPr>
        </p:nvGraphicFramePr>
        <p:xfrm>
          <a:off x="1142999" y="0"/>
          <a:ext cx="8001001" cy="109021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6652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Problem Statements Identified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5" name="Frame 4"/>
          <p:cNvSpPr/>
          <p:nvPr/>
        </p:nvSpPr>
        <p:spPr>
          <a:xfrm>
            <a:off x="0" y="-1905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6" name="Frame 10"/>
          <p:cNvSpPr/>
          <p:nvPr/>
        </p:nvSpPr>
        <p:spPr>
          <a:xfrm>
            <a:off x="0" y="0"/>
            <a:ext cx="1143000" cy="102870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7" name="Content Placeholder 8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Autofit/>
          </a:bodyPr>
          <a:lstStyle/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Frame 9"/>
          <p:cNvSpPr/>
          <p:nvPr/>
        </p:nvSpPr>
        <p:spPr>
          <a:xfrm>
            <a:off x="1143000" y="0"/>
            <a:ext cx="8001000" cy="10477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8117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31E021-9749-B66C-CFED-F1348C111B33}"/>
              </a:ext>
            </a:extLst>
          </p:cNvPr>
          <p:cNvSpPr txBox="1"/>
          <p:nvPr/>
        </p:nvSpPr>
        <p:spPr>
          <a:xfrm>
            <a:off x="838200" y="1466226"/>
            <a:ext cx="6477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High false alarm rate.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Every accident receives the same emergency </a:t>
            </a:r>
          </a:p>
          <a:p>
            <a:r>
              <a:rPr lang="en-IN" dirty="0"/>
              <a:t>response.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 accident severity prediction.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Delay in emergency response.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Limited emergency notification.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>
              <a:latin typeface="Aptos Display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70FF9-566D-66D6-BF00-2C27015FEA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595" y="1557329"/>
            <a:ext cx="2629205" cy="2757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4644372"/>
              </p:ext>
            </p:extLst>
          </p:nvPr>
        </p:nvGraphicFramePr>
        <p:xfrm>
          <a:off x="1142999" y="0"/>
          <a:ext cx="8001001" cy="102256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62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9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SOLUTIONS / MODIFICATIONS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7749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B67006-5DB9-A892-F40D-101C6C4E9046}"/>
              </a:ext>
            </a:extLst>
          </p:cNvPr>
          <p:cNvSpPr txBox="1"/>
          <p:nvPr/>
        </p:nvSpPr>
        <p:spPr>
          <a:xfrm>
            <a:off x="914400" y="1504950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Real-time accident detection using MPU6050.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AI-based accident verification.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Smart Emergency Priority Index (SEPI) for severity assessment.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15-second false alarm cancellation.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Automatic SMS and emergency service notification.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Live GPS location sharing.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Smart Digital Accident Report generation.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Firebase cloud storage for secure record management</a:t>
            </a:r>
            <a:endParaRPr lang="en-IN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48953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Subjects Integration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95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052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C6FA35-8A67-5B4B-11CA-326ED6F5FAA0}"/>
              </a:ext>
            </a:extLst>
          </p:cNvPr>
          <p:cNvSpPr txBox="1"/>
          <p:nvPr/>
        </p:nvSpPr>
        <p:spPr>
          <a:xfrm>
            <a:off x="1132448" y="1093023"/>
            <a:ext cx="46282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Embedded Systems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Machine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Wireless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Microcontrollers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Digital Signal Processing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Sensor Technology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430653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Components Purchased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2988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90600" y="1065699"/>
            <a:ext cx="6324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ESP32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MPU6050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LCD Display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GPS Module (Neo-6M)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Buzzer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Power Supply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Jumper </a:t>
            </a:r>
            <a:r>
              <a:rPr lang="en-IN" dirty="0" err="1"/>
              <a:t>Wires,Breadboard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855445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Overall System Architecture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51498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603DE91-54F2-8F7F-631C-3F7911A59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2"/>
          <a:stretch>
            <a:fillRect/>
          </a:stretch>
        </p:blipFill>
        <p:spPr>
          <a:xfrm>
            <a:off x="990600" y="1102995"/>
            <a:ext cx="7315201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B78137-0CFC-CC46-CE49-60A3259CC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14351"/>
            <a:ext cx="8305800" cy="37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9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349645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Circuit Diagrams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3848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11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8EA6D56-EAD5-3D53-B054-6BBDCCD9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352550"/>
            <a:ext cx="771525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2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1327390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Title 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 / Flowchart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7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8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9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95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61465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47AB502-4222-964C-AA02-E336A4EFB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276350"/>
            <a:ext cx="6477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4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511967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 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 Development Status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26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4380"/>
              </p:ext>
            </p:extLst>
          </p:nvPr>
        </p:nvGraphicFramePr>
        <p:xfrm>
          <a:off x="190500" y="1208722"/>
          <a:ext cx="8763000" cy="3356610"/>
        </p:xfrm>
        <a:graphic>
          <a:graphicData uri="http://schemas.openxmlformats.org/drawingml/2006/table">
            <a:tbl>
              <a:tblPr firstCol="1" lastCol="1">
                <a:tableStyleId>{08FB837D-C827-4EFA-A057-4D05807E0F7C}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Arduino IDE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/>
                        <a:t>finished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/>
                        <a:t>ESP32 Programming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Finished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/>
                        <a:t>MPU6050 Interfacing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finished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/>
                        <a:t>GPS Integration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In progress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/>
                        <a:t>GSM Integration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Finished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/>
                        <a:t>Accident Detection Algorithm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Finished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dirty="0"/>
                        <a:t>AI Model Development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Finished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2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System testing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/>
                        <a:t>Finished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Connection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finished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6374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55697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6956345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Development Status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920500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D2074E0-66EA-6506-E13D-4D17759B266D}"/>
              </a:ext>
            </a:extLst>
          </p:cNvPr>
          <p:cNvSpPr txBox="1"/>
          <p:nvPr/>
        </p:nvSpPr>
        <p:spPr>
          <a:xfrm>
            <a:off x="1524000" y="1352550"/>
            <a:ext cx="60479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ESP32 microcontroller configured and tested. </a:t>
            </a:r>
          </a:p>
          <a:p>
            <a:r>
              <a:rPr lang="en-IN" dirty="0"/>
              <a:t>✅ MPU6050 (Accelerometer &amp; Gyroscope) connected successfully.</a:t>
            </a:r>
          </a:p>
          <a:p>
            <a:r>
              <a:rPr lang="en-IN" dirty="0"/>
              <a:t> ✅ GPS module integrated for live location tracking.</a:t>
            </a:r>
          </a:p>
          <a:p>
            <a:r>
              <a:rPr lang="en-IN" dirty="0"/>
              <a:t> ✅ GSM module connected for SMS and emergency calls.</a:t>
            </a:r>
          </a:p>
          <a:p>
            <a:r>
              <a:rPr lang="en-IN" dirty="0"/>
              <a:t> ✅ LCD display integrated for real-time system status.</a:t>
            </a:r>
          </a:p>
          <a:p>
            <a:r>
              <a:rPr lang="en-IN" dirty="0"/>
              <a:t> ✅ Push button implemented for 15-second user confirmation.</a:t>
            </a:r>
          </a:p>
          <a:p>
            <a:r>
              <a:rPr lang="en-IN" dirty="0"/>
              <a:t> ✅ Power supply and complete hardware wiring verified.</a:t>
            </a:r>
          </a:p>
          <a:p>
            <a:r>
              <a:rPr lang="en-IN" dirty="0"/>
              <a:t> ✅ Individual hardware modules tested successfully.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546546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Timeline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8830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9A39935-B812-7AFB-5157-D3D81F79B709}"/>
              </a:ext>
            </a:extLst>
          </p:cNvPr>
          <p:cNvSpPr txBox="1"/>
          <p:nvPr/>
        </p:nvSpPr>
        <p:spPr>
          <a:xfrm>
            <a:off x="1007704" y="1525299"/>
            <a:ext cx="5695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Week 1</a:t>
            </a:r>
          </a:p>
          <a:p>
            <a:r>
              <a:rPr lang="en-IN" dirty="0"/>
              <a:t>Literature Survey</a:t>
            </a:r>
          </a:p>
          <a:p>
            <a:r>
              <a:rPr lang="en-IN" b="1" dirty="0"/>
              <a:t>Week 2</a:t>
            </a:r>
          </a:p>
          <a:p>
            <a:r>
              <a:rPr lang="en-IN" dirty="0"/>
              <a:t>Hardware Procurement</a:t>
            </a:r>
          </a:p>
          <a:p>
            <a:r>
              <a:rPr lang="en-IN" b="1" dirty="0"/>
              <a:t>Week 3</a:t>
            </a:r>
          </a:p>
          <a:p>
            <a:r>
              <a:rPr lang="en-IN" dirty="0"/>
              <a:t>Sensor Interface</a:t>
            </a:r>
          </a:p>
          <a:p>
            <a:r>
              <a:rPr lang="en-IN" b="1" dirty="0"/>
              <a:t>Week 4</a:t>
            </a:r>
          </a:p>
          <a:p>
            <a:r>
              <a:rPr lang="en-IN" dirty="0"/>
              <a:t>GPS Integration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49B8A-54D2-E573-FBB1-D8F8CA2F64B4}"/>
              </a:ext>
            </a:extLst>
          </p:cNvPr>
          <p:cNvSpPr txBox="1"/>
          <p:nvPr/>
        </p:nvSpPr>
        <p:spPr>
          <a:xfrm>
            <a:off x="5143499" y="1508665"/>
            <a:ext cx="23576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Week 5</a:t>
            </a:r>
          </a:p>
          <a:p>
            <a:r>
              <a:rPr lang="en-IN" dirty="0"/>
              <a:t>GSM Integration</a:t>
            </a:r>
          </a:p>
          <a:p>
            <a:r>
              <a:rPr lang="en-IN" b="1" dirty="0"/>
              <a:t>Week 6</a:t>
            </a:r>
          </a:p>
          <a:p>
            <a:r>
              <a:rPr lang="en-IN" dirty="0"/>
              <a:t>AI Model Development</a:t>
            </a:r>
          </a:p>
          <a:p>
            <a:r>
              <a:rPr lang="en-IN" b="1" dirty="0"/>
              <a:t>Week 7</a:t>
            </a:r>
          </a:p>
          <a:p>
            <a:r>
              <a:rPr lang="en-IN" dirty="0"/>
              <a:t>Testing</a:t>
            </a:r>
          </a:p>
          <a:p>
            <a:r>
              <a:rPr lang="en-IN" b="1" dirty="0"/>
              <a:t>Week 8</a:t>
            </a:r>
          </a:p>
          <a:p>
            <a:r>
              <a:rPr lang="en-IN" dirty="0"/>
              <a:t>Documentation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0137971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Completion Percentage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37206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75AA725-01E0-1F8E-D877-163D5F4843AC}"/>
              </a:ext>
            </a:extLst>
          </p:cNvPr>
          <p:cNvSpPr txBox="1"/>
          <p:nvPr/>
        </p:nvSpPr>
        <p:spPr>
          <a:xfrm>
            <a:off x="1176996" y="1065990"/>
            <a:ext cx="46282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Literature Survey – 100%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Hardware Procurement – 100%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Sensor Interface – 80%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Software – 80%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AI Model – 100%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Testing – 50%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Overall Completion – 100%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Team Member Responsibilities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21675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5B7952-EC46-8148-6624-AF7762BA9930}"/>
              </a:ext>
            </a:extLst>
          </p:cNvPr>
          <p:cNvSpPr txBox="1"/>
          <p:nvPr/>
        </p:nvSpPr>
        <p:spPr>
          <a:xfrm>
            <a:off x="2257865" y="1853308"/>
            <a:ext cx="4628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A1D057-CD2E-14E8-C5CC-19233DA69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380219"/>
              </p:ext>
            </p:extLst>
          </p:nvPr>
        </p:nvGraphicFramePr>
        <p:xfrm>
          <a:off x="228601" y="1291590"/>
          <a:ext cx="8153400" cy="365760"/>
        </p:xfrm>
        <a:graphic>
          <a:graphicData uri="http://schemas.openxmlformats.org/drawingml/2006/table">
            <a:tbl>
              <a:tblPr/>
              <a:tblGrid>
                <a:gridCol w="5087777">
                  <a:extLst>
                    <a:ext uri="{9D8B030D-6E8A-4147-A177-3AD203B41FA5}">
                      <a16:colId xmlns:a16="http://schemas.microsoft.com/office/drawing/2014/main" val="3020599799"/>
                    </a:ext>
                  </a:extLst>
                </a:gridCol>
                <a:gridCol w="3065623">
                  <a:extLst>
                    <a:ext uri="{9D8B030D-6E8A-4147-A177-3AD203B41FA5}">
                      <a16:colId xmlns:a16="http://schemas.microsoft.com/office/drawing/2014/main" val="3952893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195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55AF6D-62E6-1181-B3D2-B0A261AA3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2644"/>
              </p:ext>
            </p:extLst>
          </p:nvPr>
        </p:nvGraphicFramePr>
        <p:xfrm>
          <a:off x="457200" y="1891347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1006996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627262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33518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751E25-0F4F-CA71-BC98-4CEA45E14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65247"/>
              </p:ext>
            </p:extLst>
          </p:nvPr>
        </p:nvGraphicFramePr>
        <p:xfrm>
          <a:off x="457200" y="1885348"/>
          <a:ext cx="4350068" cy="365760"/>
        </p:xfrm>
        <a:graphic>
          <a:graphicData uri="http://schemas.openxmlformats.org/drawingml/2006/table">
            <a:tbl>
              <a:tblPr/>
              <a:tblGrid>
                <a:gridCol w="235268">
                  <a:extLst>
                    <a:ext uri="{9D8B030D-6E8A-4147-A177-3AD203B41FA5}">
                      <a16:colId xmlns:a16="http://schemas.microsoft.com/office/drawing/2014/main" val="338365829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99760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94682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850D7-D865-955E-A2E8-742A0C92244F}"/>
              </a:ext>
            </a:extLst>
          </p:cNvPr>
          <p:cNvSpPr txBox="1"/>
          <p:nvPr/>
        </p:nvSpPr>
        <p:spPr>
          <a:xfrm>
            <a:off x="1905000" y="1282435"/>
            <a:ext cx="46282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Member 1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Literature Survey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Hardware Integration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Circuit Design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Hardware Testing </a:t>
            </a:r>
          </a:p>
          <a:p>
            <a:r>
              <a:rPr lang="en-IN" b="1" dirty="0"/>
              <a:t>Member 2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Software Development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AI Model Development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GPS &amp; GSM Integration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Documentation &amp; 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Next Milestone (Review 2)</a:t>
            </a:r>
            <a:endParaRPr lang="en-US" u="sng" dirty="0"/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466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35361-5BFE-5E42-469E-76922BBE6E66}"/>
              </a:ext>
            </a:extLst>
          </p:cNvPr>
          <p:cNvSpPr txBox="1"/>
          <p:nvPr/>
        </p:nvSpPr>
        <p:spPr>
          <a:xfrm>
            <a:off x="1447800" y="1504950"/>
            <a:ext cx="46282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Complete AI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Integrate GPS.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Integrate GSM.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Perform accident testing.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Validate AI accuracy.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09FE-B1CE-8810-0C31-B41AD06B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DB6EF-23DB-982F-4D1E-D67A9242E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80"/>
            <a:ext cx="8382000" cy="47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17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0436-77FA-AD8F-5B68-F5938C62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84F5E-DFAC-518C-6B77-1C9284A2C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80"/>
            <a:ext cx="8305800" cy="438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7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7511-456B-7C39-DFC5-F269A74E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VERIFIED OUTPUT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095E8-A16E-9F4C-1155-90CB46FB6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063230"/>
            <a:ext cx="7162800" cy="353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97173" name="Picture 2" descr="thank you, etiquette, business etiquette, etiquette expert, book, conference, speaker, Julie Blais Comeau, conférence, étiquette, étiquette professionnelle, training, formation, étiquette des affaires, liv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657350"/>
            <a:ext cx="4237109" cy="2438400"/>
          </a:xfrm>
          <a:prstGeom prst="rect">
            <a:avLst/>
          </a:prstGeom>
          <a:noFill/>
        </p:spPr>
      </p:pic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4782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10/7/2026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871</Words>
  <Application>Microsoft Office PowerPoint</Application>
  <PresentationFormat>On-screen Show (16:9)</PresentationFormat>
  <Paragraphs>334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Responsibilities</vt:lpstr>
      <vt:lpstr>Next Milestone (Review 2)</vt:lpstr>
      <vt:lpstr>PowerPoint Presentation</vt:lpstr>
      <vt:lpstr>PowerPoint Presentation</vt:lpstr>
      <vt:lpstr>VERIFIED OUTPUT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</dc:creator>
  <cp:lastModifiedBy>Mahalakshmi S</cp:lastModifiedBy>
  <cp:revision>32</cp:revision>
  <dcterms:created xsi:type="dcterms:W3CDTF">2006-08-10T12:00:00Z</dcterms:created>
  <dcterms:modified xsi:type="dcterms:W3CDTF">2026-10-07T03:05:23Z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c14087d32b64439f8be0fb77d9797412</vt:lpwstr>
  </property>
</Properties>
</file>